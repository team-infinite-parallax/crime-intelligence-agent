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Team Details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name: </a:t>
            </a:r>
            <a:r>
              <a:rPr sz="1500" b="0"/>
              <a:t> Team Infinite Parallax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leader name: </a:t>
            </a:r>
            <a:r>
              <a:rPr sz="1500" b="0"/>
              <a:t> &lt;Team Leader Name&gt;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size:</a:t>
            </a:r>
            <a:r>
              <a:rPr sz="1500" b="0"/>
              <a:t> &lt;N Members&gt;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Problem Statement: </a:t>
            </a:r>
            <a:r>
              <a:rPr sz="1500" b="0"/>
              <a:t> AI-Driven Crime Analytics &amp; Visualization Platform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  <p:sp>
        <p:nvSpPr>
          <p:cNvPr id="55" name="TextBox 54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Team Details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Rectangle 59"/>
          <p:cNvSpPr/>
          <p:nvPr/>
        </p:nvSpPr>
        <p:spPr>
          <a:xfrm>
            <a:off x="457200" y="530352"/>
            <a:ext cx="548640" cy="3657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0F172A"/>
                </a:solidFill>
                <a:latin typeface="Calibri Light"/>
              </a:rPr>
              <a:t>ONE COMMAND CENTER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Calibri"/>
              </a:rPr>
              <a:t>for every crime record in </a:t>
            </a:r>
            <a:r>
              <a:rPr sz="1800" b="1">
                <a:solidFill>
                  <a:srgbClr val="0EA5E9"/>
                </a:solidFill>
                <a:latin typeface="Calibri"/>
              </a:rPr>
              <a:t>Karnataka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1627632"/>
            <a:ext cx="2560320" cy="987552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6200000"/>
          </a:gra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EA5E9"/>
                </a:solidFill>
                <a:latin typeface="Calibri"/>
              </a:rPr>
              <a:t>50,000+ cases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Calibri"/>
              </a:rPr>
              <a:t>61,000+ accused · 57,000+ victims in one serverless Zoho Catalyst hub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91840" y="1627632"/>
            <a:ext cx="2560320" cy="987552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6200000"/>
          </a:gra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A78BFA"/>
                </a:solidFill>
                <a:latin typeface="Calibri"/>
              </a:rPr>
              <a:t>See, don't search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Calibri"/>
              </a:rPr>
              <a:t>Geospatial hotspot maps with drill-down, timeline playback, pulse alerts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26480" y="1627632"/>
            <a:ext cx="2560320" cy="987552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6200000"/>
          </a:gra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FBBF24"/>
                </a:solidFill>
                <a:latin typeface="Calibri"/>
              </a:rPr>
              <a:t>Networks emerge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Calibri"/>
              </a:rPr>
              <a:t>Link graphs expose hidden syndicates across suspects, phones, bank accounts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2761488"/>
            <a:ext cx="2560320" cy="987552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6200000"/>
          </a:gra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34D399"/>
                </a:solidFill>
                <a:latin typeface="Calibri"/>
              </a:rPr>
              <a:t>Predict, don't react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Calibri"/>
              </a:rPr>
              <a:t>Five ML models retrained nightly, served &lt;200 ms via cached predictions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91840" y="2761488"/>
            <a:ext cx="2560320" cy="987552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6200000"/>
          </a:gra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F472B6"/>
                </a:solidFill>
                <a:latin typeface="Calibri"/>
              </a:rPr>
              <a:t>Understand the why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Calibri"/>
              </a:rPr>
              <a:t>Socio-economic overlays correlate crime with literacy, poverty, density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26480" y="2761488"/>
            <a:ext cx="2560320" cy="987552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6200000"/>
          </a:gra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Zero manual steps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Calibri"/>
              </a:rPr>
              <a:t>Every FIR triggers NLP MO-extraction and re-scoring automatically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Brief about the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Rectangle 65"/>
          <p:cNvSpPr/>
          <p:nvPr/>
        </p:nvSpPr>
        <p:spPr>
          <a:xfrm>
            <a:off x="457200" y="530352"/>
            <a:ext cx="548640" cy="3657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0F172A"/>
                </a:solidFill>
                <a:latin typeface="Calibri Light"/>
              </a:rPr>
              <a:t>WHY THIS WINS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Calibri"/>
              </a:rPr>
              <a:t>Differentiation · fit · </a:t>
            </a:r>
            <a:r>
              <a:rPr sz="1800" b="1">
                <a:solidFill>
                  <a:srgbClr val="A78BFA"/>
                </a:solidFill>
                <a:latin typeface="Calibri"/>
              </a:rPr>
              <a:t>unique strengths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1627632"/>
            <a:ext cx="2529840" cy="278892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0EA5E9"/>
                </a:solidFill>
                <a:latin typeface="Calibri"/>
              </a:rPr>
              <a:t>HOW IT'S DIFFERENT</a:t>
            </a:r>
          </a:p>
          <a:p>
            <a:pPr algn="l">
              <a:spcAft>
                <a:spcPts val="700"/>
              </a:spcAft>
            </a:pPr>
            <a:r>
              <a:rPr sz="919" b="0" i="0">
                <a:solidFill>
                  <a:srgbClr val="475569"/>
                </a:solidFill>
                <a:latin typeface="Calibri"/>
              </a:rPr>
              <a:t>• Fuses maps, networks &amp; ML in one pane — not another static GIS or Excel export</a:t>
            </a:r>
          </a:p>
          <a:p>
            <a:pPr algn="l">
              <a:spcAft>
                <a:spcPts val="700"/>
              </a:spcAft>
            </a:pPr>
            <a:r>
              <a:rPr sz="919" b="0" i="0">
                <a:solidFill>
                  <a:srgbClr val="475569"/>
                </a:solidFill>
                <a:latin typeface="Calibri"/>
              </a:rPr>
              <a:t>• Associations surface automatically across 26 tables — invisible in siloed sheets</a:t>
            </a:r>
          </a:p>
          <a:p>
            <a:pPr algn="l">
              <a:spcAft>
                <a:spcPts val="700"/>
              </a:spcAft>
            </a:pPr>
            <a:r>
              <a:rPr sz="919" b="0" i="0">
                <a:solidFill>
                  <a:srgbClr val="475569"/>
                </a:solidFill>
                <a:latin typeface="Calibri"/>
              </a:rPr>
              <a:t>• Sociological layer explains crime, doesn't just plot it</a:t>
            </a:r>
          </a:p>
          <a:p>
            <a:pPr algn="l">
              <a:spcAft>
                <a:spcPts val="700"/>
              </a:spcAft>
            </a:pPr>
            <a:r>
              <a:rPr sz="919" b="0" i="0">
                <a:solidFill>
                  <a:srgbClr val="475569"/>
                </a:solidFill>
                <a:latin typeface="Calibri"/>
              </a:rPr>
              <a:t>• 100% Catalyst serverless — zero infrastructure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307080" y="1627632"/>
            <a:ext cx="2529840" cy="278892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FBBF24"/>
                </a:solidFill>
                <a:latin typeface="Calibri"/>
              </a:rPr>
              <a:t>HOW IT SOLVES THE PROBLEM</a:t>
            </a:r>
          </a:p>
          <a:p>
            <a:pPr algn="l">
              <a:spcAft>
                <a:spcPts val="700"/>
              </a:spcAft>
            </a:pPr>
            <a:r>
              <a:rPr sz="919" b="0" i="0">
                <a:solidFill>
                  <a:srgbClr val="475569"/>
                </a:solidFill>
                <a:latin typeface="Calibri"/>
              </a:rPr>
              <a:t>• Kills silos with unified Data Store + batch legacy ingestion</a:t>
            </a:r>
          </a:p>
          <a:p>
            <a:pPr algn="l">
              <a:spcAft>
                <a:spcPts val="700"/>
              </a:spcAft>
            </a:pPr>
            <a:r>
              <a:rPr sz="919" b="0" i="0">
                <a:solidFill>
                  <a:srgbClr val="475569"/>
                </a:solidFill>
                <a:latin typeface="Calibri"/>
              </a:rPr>
              <a:t>• Closes SCRB info gap with state-wide drill-down</a:t>
            </a:r>
          </a:p>
          <a:p>
            <a:pPr algn="l">
              <a:spcAft>
                <a:spcPts val="700"/>
              </a:spcAft>
            </a:pPr>
            <a:r>
              <a:rPr sz="919" b="0" i="0">
                <a:solidFill>
                  <a:srgbClr val="475569"/>
                </a:solidFill>
                <a:latin typeface="Calibri"/>
              </a:rPr>
              <a:t>• Reactive → proactive: nightly forecasts flag next-week hotspots</a:t>
            </a:r>
          </a:p>
          <a:p>
            <a:pPr algn="l">
              <a:spcAft>
                <a:spcPts val="700"/>
              </a:spcAft>
            </a:pPr>
            <a:r>
              <a:rPr sz="919" b="0" i="0">
                <a:solidFill>
                  <a:srgbClr val="475569"/>
                </a:solidFill>
                <a:latin typeface="Calibri"/>
              </a:rPr>
              <a:t>• Anomaly call-outs link complex cases across jurisdictions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56960" y="1627632"/>
            <a:ext cx="2529840" cy="278892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34D399"/>
                </a:solidFill>
                <a:latin typeface="Calibri"/>
              </a:rPr>
              <a:t>USP</a:t>
            </a:r>
          </a:p>
          <a:p>
            <a:pPr algn="l">
              <a:spcAft>
                <a:spcPts val="700"/>
              </a:spcAft>
            </a:pPr>
            <a:r>
              <a:rPr sz="919" b="0" i="0">
                <a:solidFill>
                  <a:srgbClr val="475569"/>
                </a:solidFill>
                <a:latin typeface="Calibri"/>
              </a:rPr>
              <a:t>• Pre-computed ML — real models, &lt;200 ms cached responses</a:t>
            </a:r>
          </a:p>
          <a:p>
            <a:pPr algn="l">
              <a:spcAft>
                <a:spcPts val="700"/>
              </a:spcAft>
            </a:pPr>
            <a:r>
              <a:rPr sz="919" b="0" i="0">
                <a:solidFill>
                  <a:srgbClr val="475569"/>
                </a:solidFill>
                <a:latin typeface="Calibri"/>
              </a:rPr>
              <a:t>• Explainable AI: every score ships with feature attributions</a:t>
            </a:r>
          </a:p>
          <a:p>
            <a:pPr algn="l">
              <a:spcAft>
                <a:spcPts val="700"/>
              </a:spcAft>
            </a:pPr>
            <a:r>
              <a:rPr sz="919" b="0" i="0">
                <a:solidFill>
                  <a:srgbClr val="475569"/>
                </a:solidFill>
                <a:latin typeface="Calibri"/>
              </a:rPr>
              <a:t>• Voice search for hands-free field querying</a:t>
            </a:r>
          </a:p>
          <a:p>
            <a:pPr algn="l">
              <a:spcAft>
                <a:spcPts val="700"/>
              </a:spcAft>
            </a:pPr>
            <a:r>
              <a:rPr sz="919" b="0" i="0">
                <a:solidFill>
                  <a:srgbClr val="475569"/>
                </a:solidFill>
                <a:latin typeface="Calibri"/>
              </a:rPr>
              <a:t>• WCAG 2.1 AAA accessible + full RBAC audit trail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Opportunities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Rectangle 71"/>
          <p:cNvSpPr/>
          <p:nvPr/>
        </p:nvSpPr>
        <p:spPr>
          <a:xfrm>
            <a:off x="457200" y="530352"/>
            <a:ext cx="54864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0F172A"/>
                </a:solidFill>
                <a:latin typeface="Calibri Light"/>
              </a:rPr>
              <a:t>NINE MODULES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One pane of glass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1536192"/>
            <a:ext cx="2560320" cy="8595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6200000"/>
          </a:gra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EA5E9"/>
                </a:solidFill>
                <a:latin typeface="Calibri"/>
              </a:rPr>
              <a:t>01</a:t>
            </a:r>
            <a:r>
              <a:rPr sz="1000" b="1">
                <a:solidFill>
                  <a:srgbClr val="0F172A"/>
                </a:solidFill>
                <a:latin typeface="Calibri"/>
              </a:rPr>
              <a:t>  Geospatial Hotspot Map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district → station drill, timeline playback, pulse alerts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291840" y="1536192"/>
            <a:ext cx="2560320" cy="8595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6200000"/>
          </a:gra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A78BFA"/>
                </a:solidFill>
                <a:latin typeface="Calibri"/>
              </a:rPr>
              <a:t>02</a:t>
            </a:r>
            <a:r>
              <a:rPr sz="1000" b="1">
                <a:solidFill>
                  <a:srgbClr val="0F172A"/>
                </a:solidFill>
                <a:latin typeface="Calibri"/>
              </a:rPr>
              <a:t>  Criminal Network Graph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suspect–victim–phone–bank links; syndicate detection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26480" y="1536192"/>
            <a:ext cx="2560320" cy="8595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6200000"/>
          </a:gra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BBF24"/>
                </a:solidFill>
                <a:latin typeface="Calibri"/>
              </a:rPr>
              <a:t>03</a:t>
            </a:r>
            <a:r>
              <a:rPr sz="1000" b="1">
                <a:solidFill>
                  <a:srgbClr val="0F172A"/>
                </a:solidFill>
                <a:latin typeface="Calibri"/>
              </a:rPr>
              <a:t>  Predictive Risk Scoring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12-week forecasts, explainable AI risk scores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2468880"/>
            <a:ext cx="2560320" cy="8595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6200000"/>
          </a:gra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87171"/>
                </a:solidFill>
                <a:latin typeface="Calibri"/>
              </a:rPr>
              <a:t>04</a:t>
            </a:r>
            <a:r>
              <a:rPr sz="1000" b="1">
                <a:solidFill>
                  <a:srgbClr val="0F172A"/>
                </a:solidFill>
                <a:latin typeface="Calibri"/>
              </a:rPr>
              <a:t>  Anomaly &amp; Alert Center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spatial / temporal / behavioral flags + push alerts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291840" y="2468880"/>
            <a:ext cx="2560320" cy="8595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6200000"/>
          </a:gra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05</a:t>
            </a:r>
            <a:r>
              <a:rPr sz="1000" b="1">
                <a:solidFill>
                  <a:srgbClr val="0F172A"/>
                </a:solidFill>
                <a:latin typeface="Calibri"/>
              </a:rPr>
              <a:t>  Socio-Economic Overlay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literacy, poverty, density layers explain the why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26480" y="2468880"/>
            <a:ext cx="2560320" cy="8595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6200000"/>
          </a:gra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472B6"/>
                </a:solidFill>
                <a:latin typeface="Calibri"/>
              </a:rPr>
              <a:t>06</a:t>
            </a:r>
            <a:r>
              <a:rPr sz="1000" b="1">
                <a:solidFill>
                  <a:srgbClr val="0F172A"/>
                </a:solidFill>
                <a:latin typeface="Calibri"/>
              </a:rPr>
              <a:t>  Repeat-Offender Profiling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timelines &amp; cross-jurisdiction MO tracking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7200" y="3401568"/>
            <a:ext cx="2560320" cy="8595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6200000"/>
          </a:gra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07</a:t>
            </a:r>
            <a:r>
              <a:rPr sz="1000" b="1">
                <a:solidFill>
                  <a:srgbClr val="0F172A"/>
                </a:solidFill>
                <a:latin typeface="Calibri"/>
              </a:rPr>
              <a:t>  Voice Command Search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natural-language corpus querying via Zia STT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91840" y="3401568"/>
            <a:ext cx="2560320" cy="8595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6200000"/>
          </a:gra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A78BFA"/>
                </a:solidFill>
                <a:latin typeface="Calibri"/>
              </a:rPr>
              <a:t>08</a:t>
            </a:r>
            <a:r>
              <a:rPr sz="1000" b="1">
                <a:solidFill>
                  <a:srgbClr val="0F172A"/>
                </a:solidFill>
                <a:latin typeface="Calibri"/>
              </a:rPr>
              <a:t>  Auto Intelligence Reports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PDF briefs, heatmaps, resource-deployment planning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26480" y="3401568"/>
            <a:ext cx="2560320" cy="8595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6200000"/>
          </a:gra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38BDF8"/>
                </a:solidFill>
                <a:latin typeface="Calibri"/>
              </a:rPr>
              <a:t>09</a:t>
            </a:r>
            <a:r>
              <a:rPr sz="1000" b="1">
                <a:solidFill>
                  <a:srgbClr val="0F172A"/>
                </a:solidFill>
                <a:latin typeface="Calibri"/>
              </a:rPr>
              <a:t>  Role-Based Command Scopes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SCRB / District / Station dashboards + RBAC + audit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List of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Rectangle 77"/>
          <p:cNvSpPr/>
          <p:nvPr/>
        </p:nvSpPr>
        <p:spPr>
          <a:xfrm>
            <a:off x="457200" y="530352"/>
            <a:ext cx="548640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0F172A"/>
                </a:solidFill>
                <a:latin typeface="Calibri Light"/>
              </a:rPr>
              <a:t>FROM FIR TO FORESIGHT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Automatically</a:t>
            </a:r>
          </a:p>
        </p:txBody>
      </p:sp>
      <p:sp>
        <p:nvSpPr>
          <p:cNvPr id="80" name="Oval 79"/>
          <p:cNvSpPr/>
          <p:nvPr/>
        </p:nvSpPr>
        <p:spPr>
          <a:xfrm>
            <a:off x="941832" y="2130551"/>
            <a:ext cx="402336" cy="402336"/>
          </a:xfrm>
          <a:prstGeom prst="ellipse">
            <a:avLst/>
          </a:prstGeom>
          <a:gradFill rotWithShape="1">
            <a:gsLst>
              <a:gs pos="0">
                <a:srgbClr val="F8FAFC"/>
              </a:gs>
              <a:gs pos="100000">
                <a:srgbClr val="E0E7FF"/>
              </a:gs>
            </a:gsLst>
            <a:lin scaled="0" ang="13500000"/>
          </a:gradFill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EA5E9"/>
                </a:solidFill>
                <a:latin typeface="Calibri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2064" y="2697479"/>
            <a:ext cx="1261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EA5E9"/>
                </a:solidFill>
                <a:latin typeface="Calibri"/>
              </a:rPr>
              <a:t>Ingest</a:t>
            </a:r>
          </a:p>
        </p:txBody>
      </p:sp>
      <p:sp>
        <p:nvSpPr>
          <p:cNvPr id="82" name="Oval 81"/>
          <p:cNvSpPr/>
          <p:nvPr/>
        </p:nvSpPr>
        <p:spPr>
          <a:xfrm>
            <a:off x="2313432" y="2130551"/>
            <a:ext cx="402336" cy="402336"/>
          </a:xfrm>
          <a:prstGeom prst="ellipse">
            <a:avLst/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3500000"/>
          </a:gra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A78BFA"/>
                </a:solidFill>
                <a:latin typeface="Calibri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83664" y="2697479"/>
            <a:ext cx="1261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Calibri"/>
              </a:rPr>
              <a:t>Secure</a:t>
            </a:r>
          </a:p>
        </p:txBody>
      </p:sp>
      <p:sp>
        <p:nvSpPr>
          <p:cNvPr id="84" name="Oval 83"/>
          <p:cNvSpPr/>
          <p:nvPr/>
        </p:nvSpPr>
        <p:spPr>
          <a:xfrm>
            <a:off x="3685032" y="2130551"/>
            <a:ext cx="402336" cy="402336"/>
          </a:xfrm>
          <a:prstGeom prst="ellipse">
            <a:avLst/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3500000"/>
          </a:gradFill>
          <a:ln w="317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475569"/>
                </a:solidFill>
                <a:latin typeface="Calibri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55264" y="2697479"/>
            <a:ext cx="1261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75569"/>
                </a:solidFill>
                <a:latin typeface="Calibri"/>
              </a:rPr>
              <a:t>Store</a:t>
            </a:r>
          </a:p>
        </p:txBody>
      </p:sp>
      <p:sp>
        <p:nvSpPr>
          <p:cNvPr id="86" name="Oval 85"/>
          <p:cNvSpPr/>
          <p:nvPr/>
        </p:nvSpPr>
        <p:spPr>
          <a:xfrm>
            <a:off x="5056632" y="2130551"/>
            <a:ext cx="402336" cy="402336"/>
          </a:xfrm>
          <a:prstGeom prst="ellipse">
            <a:avLst/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3500000"/>
          </a:gra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BBF24"/>
                </a:solidFill>
                <a:latin typeface="Calibri"/>
              </a:rP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26864" y="2697479"/>
            <a:ext cx="1261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Calibri"/>
              </a:rPr>
              <a:t>Learn</a:t>
            </a:r>
          </a:p>
        </p:txBody>
      </p:sp>
      <p:sp>
        <p:nvSpPr>
          <p:cNvPr id="88" name="Oval 87"/>
          <p:cNvSpPr/>
          <p:nvPr/>
        </p:nvSpPr>
        <p:spPr>
          <a:xfrm>
            <a:off x="6428232" y="2130551"/>
            <a:ext cx="402336" cy="402336"/>
          </a:xfrm>
          <a:prstGeom prst="ellipse">
            <a:avLst/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3500000"/>
          </a:gra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4D399"/>
                </a:solidFill>
                <a:latin typeface="Calibri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98464" y="2697479"/>
            <a:ext cx="1261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Calibri"/>
              </a:rPr>
              <a:t>Serve</a:t>
            </a:r>
          </a:p>
        </p:txBody>
      </p:sp>
      <p:sp>
        <p:nvSpPr>
          <p:cNvPr id="90" name="Oval 89"/>
          <p:cNvSpPr/>
          <p:nvPr/>
        </p:nvSpPr>
        <p:spPr>
          <a:xfrm>
            <a:off x="7799831" y="2130551"/>
            <a:ext cx="402336" cy="402336"/>
          </a:xfrm>
          <a:prstGeom prst="ellipse">
            <a:avLst/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3500000"/>
          </a:gradFill>
          <a:ln w="317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70064" y="2697479"/>
            <a:ext cx="1261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Act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399032" y="2331720"/>
            <a:ext cx="859536" cy="0"/>
          </a:xfrm>
          <a:prstGeom prst="bentConnector3">
            <a:avLst/>
          </a:prstGeom>
          <a:ln w="22860">
            <a:solidFill>
              <a:srgbClr val="A78BFA"/>
            </a:solidFill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770632" y="2331720"/>
            <a:ext cx="859536" cy="0"/>
          </a:xfrm>
          <a:prstGeom prst="bentConnector3">
            <a:avLst/>
          </a:prstGeom>
          <a:ln w="22860">
            <a:solidFill>
              <a:srgbClr val="475569"/>
            </a:solidFill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142232" y="2331720"/>
            <a:ext cx="859536" cy="0"/>
          </a:xfrm>
          <a:prstGeom prst="bentConnector3">
            <a:avLst/>
          </a:prstGeom>
          <a:ln w="22860">
            <a:solidFill>
              <a:srgbClr val="FBBF24"/>
            </a:solidFill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13832" y="2331720"/>
            <a:ext cx="859536" cy="0"/>
          </a:xfrm>
          <a:prstGeom prst="bentConnector3">
            <a:avLst/>
          </a:prstGeom>
          <a:ln w="22860">
            <a:solidFill>
              <a:srgbClr val="34D399"/>
            </a:solidFill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885432" y="2331720"/>
            <a:ext cx="859536" cy="0"/>
          </a:xfrm>
          <a:prstGeom prst="bentConnector3">
            <a:avLst/>
          </a:prstGeom>
          <a:ln w="22860">
            <a:solidFill>
              <a:srgbClr val="22D3EE"/>
            </a:solidFill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Calibri"/>
              </a:rPr>
              <a:t>The loop:  </a:t>
            </a:r>
            <a:r>
              <a:rPr sz="1050" b="0">
                <a:solidFill>
                  <a:srgbClr val="475569"/>
                </a:solidFill>
                <a:latin typeface="Calibri"/>
              </a:rPr>
              <a:t>Dashboard insight → proactive patrol → new incident → nightly retrain → sharper forecasts. Every FIR enriches the intelligence layer — </a:t>
            </a:r>
            <a:r>
              <a:rPr sz="1050" b="1">
                <a:solidFill>
                  <a:srgbClr val="0F172A"/>
                </a:solidFill>
                <a:latin typeface="Calibri"/>
              </a:rPr>
              <a:t>zero manual steps.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Process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Rectangle 83"/>
          <p:cNvSpPr/>
          <p:nvPr/>
        </p:nvSpPr>
        <p:spPr>
          <a:xfrm>
            <a:off x="457200" y="530352"/>
            <a:ext cx="54864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0F172A"/>
                </a:solidFill>
                <a:latin typeface="Calibri Light"/>
              </a:rPr>
              <a:t>THE COMMAND CENTER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in one screen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97280" y="1536192"/>
            <a:ext cx="6949440" cy="288036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0B111E"/>
              </a:gs>
              <a:gs pos="100000">
                <a:srgbClr val="161F3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34439" y="1609344"/>
            <a:ext cx="6675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DD3FC"/>
                </a:solidFill>
                <a:latin typeface="Calibri"/>
              </a:rPr>
              <a:t>KSP COMMAND CENTER</a:t>
            </a:r>
            <a:r>
              <a:rPr sz="800" b="0">
                <a:solidFill>
                  <a:srgbClr val="94A3B8"/>
                </a:solidFill>
                <a:latin typeface="Calibri"/>
              </a:rPr>
              <a:t>  ·  SCRB ADMIN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34439" y="1883664"/>
            <a:ext cx="6675120" cy="731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34439" y="1975104"/>
            <a:ext cx="914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94A3B8"/>
                </a:solidFill>
                <a:latin typeface="Calibri"/>
              </a:rPr>
              <a:t>Overview</a:t>
            </a:r>
          </a:p>
          <a:p>
            <a:pPr algn="l">
              <a:spcAft>
                <a:spcPts val="400"/>
              </a:spcAft>
            </a:pPr>
            <a:r>
              <a:rPr sz="750" b="1" i="0">
                <a:solidFill>
                  <a:srgbClr val="0EA5E9"/>
                </a:solidFill>
                <a:latin typeface="Calibri"/>
              </a:rPr>
              <a:t>Hotspots</a:t>
            </a:r>
          </a:p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94A3B8"/>
                </a:solidFill>
                <a:latin typeface="Calibri"/>
              </a:rPr>
              <a:t>Networks</a:t>
            </a:r>
          </a:p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94A3B8"/>
                </a:solidFill>
                <a:latin typeface="Calibri"/>
              </a:rPr>
              <a:t>Forecasts</a:t>
            </a:r>
          </a:p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94A3B8"/>
                </a:solidFill>
                <a:latin typeface="Calibri"/>
              </a:rPr>
              <a:t>Anomalies</a:t>
            </a:r>
          </a:p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94A3B8"/>
                </a:solidFill>
                <a:latin typeface="Calibri"/>
              </a:rPr>
              <a:t>Socio-Eco</a:t>
            </a:r>
          </a:p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94A3B8"/>
                </a:solidFill>
                <a:latin typeface="Calibri"/>
              </a:rPr>
              <a:t>Offenders</a:t>
            </a:r>
          </a:p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94A3B8"/>
                </a:solidFill>
                <a:latin typeface="Calibri"/>
              </a:rPr>
              <a:t>Reports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31720" y="1975104"/>
            <a:ext cx="130987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94A3B8"/>
                </a:solidFill>
                <a:latin typeface="Calibri"/>
              </a:rPr>
              <a:t>ACTIVE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50,012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14750" y="1975104"/>
            <a:ext cx="130987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94A3B8"/>
                </a:solidFill>
                <a:latin typeface="Calibri"/>
              </a:rPr>
              <a:t>HOTSPOTS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14 ▲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97779" y="1975104"/>
            <a:ext cx="130987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94A3B8"/>
                </a:solidFill>
                <a:latin typeface="Calibri"/>
              </a:rPr>
              <a:t>RISK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EA5E9"/>
                </a:solidFill>
                <a:latin typeface="Calibri"/>
              </a:rP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80809" y="1975104"/>
            <a:ext cx="130987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94A3B8"/>
                </a:solidFill>
                <a:latin typeface="Calibri"/>
              </a:rPr>
              <a:t>CHARGESHEET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EE7B7"/>
                </a:solidFill>
                <a:latin typeface="Calibri"/>
              </a:rPr>
              <a:t>62.4%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331720" y="2542032"/>
            <a:ext cx="3200400" cy="1691639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0B111E"/>
              </a:gs>
              <a:gs pos="100000">
                <a:srgbClr val="161F33"/>
              </a:gs>
            </a:gsLst>
            <a:lin scaled="0" ang="16200000"/>
          </a:gra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63239" y="309067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977639" y="3319272"/>
            <a:ext cx="164592" cy="164592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17720" y="2999232"/>
            <a:ext cx="100584" cy="10058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5669279" y="2542032"/>
            <a:ext cx="2194560" cy="1691639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0B111E"/>
              </a:gs>
              <a:gs pos="100000">
                <a:srgbClr val="161F33"/>
              </a:gs>
            </a:gsLst>
            <a:lin scaled="0" ang="16200000"/>
          </a:gra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A78BFA"/>
                </a:solidFill>
                <a:latin typeface="Calibri"/>
              </a:rPr>
              <a:t>NETWORK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94A3B8"/>
                </a:solidFill>
                <a:latin typeface="Consolas"/>
              </a:rPr>
              <a:t>A ── B
│    │
C ─ 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Wireframes (optional)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Rectangle 89"/>
          <p:cNvSpPr/>
          <p:nvPr/>
        </p:nvSpPr>
        <p:spPr>
          <a:xfrm>
            <a:off x="457200" y="530352"/>
            <a:ext cx="548640" cy="3657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0F172A"/>
                </a:solidFill>
                <a:latin typeface="Calibri Light"/>
              </a:rPr>
              <a:t>SERVERLESS SPINE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Calibri"/>
              </a:rPr>
              <a:t>Pre-computed intelligence on </a:t>
            </a:r>
            <a:r>
              <a:rPr sz="1800" b="1">
                <a:solidFill>
                  <a:srgbClr val="0EA5E9"/>
                </a:solidFill>
                <a:latin typeface="Calibri"/>
              </a:rPr>
              <a:t>Zoho Catalyst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57200" y="1737360"/>
            <a:ext cx="1280160" cy="64008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38BDF8"/>
                </a:solidFill>
                <a:latin typeface="Calibri"/>
              </a:rPr>
              <a:t>CLIENTS
React SPA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57200" y="2514600"/>
            <a:ext cx="1280160" cy="64008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38BDF8"/>
                </a:solidFill>
                <a:latin typeface="Calibri"/>
              </a:rPr>
              <a:t>BATCH
Import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148840" y="2103120"/>
            <a:ext cx="1280160" cy="6858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F172A"/>
                </a:solidFill>
                <a:latin typeface="Calibri"/>
              </a:rPr>
              <a:t>API
Gateway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749039" y="1645920"/>
            <a:ext cx="1371600" cy="59436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F172A"/>
                </a:solidFill>
                <a:latin typeface="Calibri"/>
              </a:rPr>
              <a:t>DATA STORE
26 tables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749039" y="2377440"/>
            <a:ext cx="1371600" cy="54864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Calibri"/>
              </a:rPr>
              <a:t>CACHE
&lt;200 ms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749039" y="3063240"/>
            <a:ext cx="1371600" cy="54864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F172A"/>
                </a:solidFill>
                <a:latin typeface="Calibri"/>
              </a:rPr>
              <a:t>STRATUS
S3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532120" y="1645920"/>
            <a:ext cx="1371600" cy="59436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BBF24"/>
                </a:solidFill>
                <a:latin typeface="Calibri"/>
              </a:rPr>
              <a:t>SIGNALS
Circuits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532120" y="2377440"/>
            <a:ext cx="1371600" cy="54864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BBF24"/>
                </a:solidFill>
                <a:latin typeface="Calibri"/>
              </a:rPr>
              <a:t>CRON
2 AM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532120" y="3063240"/>
            <a:ext cx="1371600" cy="54864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BBF24"/>
                </a:solidFill>
                <a:latin typeface="Calibri"/>
              </a:rPr>
              <a:t>ZIA
QuickML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315200" y="1645920"/>
            <a:ext cx="1097280" cy="86868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BBF24"/>
                </a:solidFill>
                <a:latin typeface="Calibri"/>
              </a:rPr>
              <a:t>PYTHON ML
5 models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315200" y="2697480"/>
            <a:ext cx="1097280" cy="9144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Calibri"/>
              </a:rPr>
              <a:t>OUTPUTS
PDF/alerts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1828800" y="2057400"/>
            <a:ext cx="320040" cy="274320"/>
          </a:xfrm>
          <a:prstGeom prst="bentConnector3">
            <a:avLst/>
          </a:prstGeom>
          <a:ln w="16510">
            <a:solidFill>
              <a:srgbClr val="A78BFA"/>
            </a:solidFill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828800" y="2606040"/>
            <a:ext cx="320040" cy="228600"/>
          </a:xfrm>
          <a:prstGeom prst="bentConnector3">
            <a:avLst/>
          </a:prstGeom>
          <a:ln w="16510">
            <a:solidFill>
              <a:srgbClr val="A78BFA"/>
            </a:solidFill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429000" y="2240280"/>
            <a:ext cx="320039" cy="201168"/>
          </a:xfrm>
          <a:prstGeom prst="bentConnector3">
            <a:avLst/>
          </a:prstGeom>
          <a:ln w="16510">
            <a:solidFill>
              <a:srgbClr val="34D399"/>
            </a:solidFill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120640" y="1938528"/>
            <a:ext cx="411480" cy="0"/>
          </a:xfrm>
          <a:prstGeom prst="bentConnector3">
            <a:avLst/>
          </a:prstGeom>
          <a:ln w="16510">
            <a:solidFill>
              <a:srgbClr val="FBBF24"/>
            </a:solidFill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6903720" y="2075688"/>
            <a:ext cx="411480" cy="73152"/>
          </a:xfrm>
          <a:prstGeom prst="bentConnector3">
            <a:avLst/>
          </a:prstGeom>
          <a:ln w="16510">
            <a:solidFill>
              <a:srgbClr val="FBBF24"/>
            </a:solidFill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7863840" y="2697480"/>
            <a:ext cx="0" cy="0"/>
          </a:xfrm>
          <a:prstGeom prst="bentConnector3">
            <a:avLst/>
          </a:prstGeom>
          <a:ln w="16510">
            <a:solidFill>
              <a:srgbClr val="34D399"/>
            </a:solidFill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5120640" y="2514600"/>
            <a:ext cx="2194560" cy="118872"/>
          </a:xfrm>
          <a:prstGeom prst="bentConnector3">
            <a:avLst/>
          </a:prstGeom>
          <a:ln w="16510">
            <a:solidFill>
              <a:srgbClr val="34D399"/>
            </a:solidFill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Nightly train → cache → serve &lt;200 ms.  </a:t>
            </a:r>
            <a:r>
              <a:rPr sz="1050" b="0">
                <a:solidFill>
                  <a:srgbClr val="475569"/>
                </a:solidFill>
                <a:latin typeface="Calibri"/>
              </a:rPr>
              <a:t>Real ML, serverless reliability.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Rectangle 95"/>
          <p:cNvSpPr/>
          <p:nvPr/>
        </p:nvSpPr>
        <p:spPr>
          <a:xfrm>
            <a:off x="457200" y="530352"/>
            <a:ext cx="548640" cy="3657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0F172A"/>
                </a:solidFill>
                <a:latin typeface="Calibri Light"/>
              </a:rPr>
              <a:t>MODERN STACK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Test-hardened &amp; production-ready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200" y="1536192"/>
            <a:ext cx="1851660" cy="260604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22D3EE"/>
                </a:solidFill>
                <a:latin typeface="Calibri"/>
              </a:rPr>
              <a:t>FRONTEND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React 19 · Vite 8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Tailwind CSS 4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Leaflet maps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Cytoscape graphs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lucide · html2pdf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583179" y="1536192"/>
            <a:ext cx="1851660" cy="260604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A78BFA"/>
                </a:solidFill>
                <a:latin typeface="Calibri"/>
              </a:rPr>
              <a:t>BACKEND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Node 18 · Express 5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zcatalyst-sdk-node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CoQL queries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RBAC middleware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Serverless REST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709159" y="1536192"/>
            <a:ext cx="1851660" cy="260604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FBBF24"/>
                </a:solidFill>
                <a:latin typeface="Calibri"/>
              </a:rPr>
              <a:t>AI / ML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Python 3.13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XGBoost hotspots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Isolation Forest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Random Forest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Time-series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835140" y="1536192"/>
            <a:ext cx="1851660" cy="260604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34D399"/>
                </a:solidFill>
                <a:latin typeface="Calibri"/>
              </a:rPr>
              <a:t>QUALITY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Vitest — 13 UI suites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node:test + unittest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oxlint · pyrefly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Catalyst Pipelines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• WCAG 2.1 AAA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Technologies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Rectangle 101"/>
          <p:cNvSpPr/>
          <p:nvPr/>
        </p:nvSpPr>
        <p:spPr>
          <a:xfrm>
            <a:off x="457200" y="530352"/>
            <a:ext cx="54864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0F172A"/>
                </a:solidFill>
                <a:latin typeface="Calibri Light"/>
              </a:rPr>
              <a:t>12 CATALYST SERVICES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Natively integrated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1536192"/>
            <a:ext cx="2572511" cy="60350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EA5E9"/>
                </a:solidFill>
                <a:latin typeface="Calibri"/>
              </a:rPr>
              <a:t>⚡ </a:t>
            </a:r>
            <a:r>
              <a:rPr sz="1000" b="1">
                <a:solidFill>
                  <a:srgbClr val="0F172A"/>
                </a:solidFill>
                <a:latin typeface="Calibri"/>
              </a:rPr>
              <a:t>Serverless Functions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REST APIs · auth · ML batch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285743" y="1536192"/>
            <a:ext cx="2572511" cy="60350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⚡ </a:t>
            </a:r>
            <a:r>
              <a:rPr sz="1000" b="1">
                <a:solidFill>
                  <a:srgbClr val="0F172A"/>
                </a:solidFill>
                <a:latin typeface="Calibri"/>
              </a:rPr>
              <a:t>Web Client Hosting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production React SPA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114287" y="1536192"/>
            <a:ext cx="2572511" cy="60350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78BFA"/>
                </a:solidFill>
                <a:latin typeface="Calibri"/>
              </a:rPr>
              <a:t>⚡ </a:t>
            </a:r>
            <a:r>
              <a:rPr sz="1000" b="1">
                <a:solidFill>
                  <a:srgbClr val="0F172A"/>
                </a:solidFill>
                <a:latin typeface="Calibri"/>
              </a:rPr>
              <a:t>Data Store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26 relational KSP tables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57200" y="2212848"/>
            <a:ext cx="2572511" cy="60350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⚡ </a:t>
            </a:r>
            <a:r>
              <a:rPr sz="1000" b="1">
                <a:solidFill>
                  <a:srgbClr val="0F172A"/>
                </a:solidFill>
                <a:latin typeface="Calibri"/>
              </a:rPr>
              <a:t>Cache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forecasts &lt;200 ms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285743" y="2212848"/>
            <a:ext cx="2572511" cy="60350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BBF24"/>
                </a:solidFill>
                <a:latin typeface="Calibri"/>
              </a:rPr>
              <a:t>⚡ </a:t>
            </a:r>
            <a:r>
              <a:rPr sz="1000" b="1">
                <a:solidFill>
                  <a:srgbClr val="0F172A"/>
                </a:solidFill>
                <a:latin typeface="Calibri"/>
              </a:rPr>
              <a:t>QuickML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AutoML tabular + time-series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114287" y="2212848"/>
            <a:ext cx="2572511" cy="60350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472B6"/>
                </a:solidFill>
                <a:latin typeface="Calibri"/>
              </a:rPr>
              <a:t>⚡ </a:t>
            </a:r>
            <a:r>
              <a:rPr sz="1000" b="1">
                <a:solidFill>
                  <a:srgbClr val="0F172A"/>
                </a:solidFill>
                <a:latin typeface="Calibri"/>
              </a:rPr>
              <a:t>Zia Services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NLP MO · Speech-to-Text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57200" y="2889504"/>
            <a:ext cx="2572511" cy="60350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Calibri"/>
              </a:rPr>
              <a:t>⚡ </a:t>
            </a:r>
            <a:r>
              <a:rPr sz="1000" b="1">
                <a:solidFill>
                  <a:srgbClr val="0F172A"/>
                </a:solidFill>
                <a:latin typeface="Calibri"/>
              </a:rPr>
              <a:t>SmartBrowz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automated PDF reports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285743" y="2889504"/>
            <a:ext cx="2572511" cy="60350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78BFA"/>
                </a:solidFill>
                <a:latin typeface="Calibri"/>
              </a:rPr>
              <a:t>⚡ </a:t>
            </a:r>
            <a:r>
              <a:rPr sz="1000" b="1">
                <a:solidFill>
                  <a:srgbClr val="0F172A"/>
                </a:solidFill>
                <a:latin typeface="Calibri"/>
              </a:rPr>
              <a:t>Circuits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multi-step workflows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114287" y="2889504"/>
            <a:ext cx="2572511" cy="60350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BBF24"/>
                </a:solidFill>
                <a:latin typeface="Calibri"/>
              </a:rPr>
              <a:t>⚡ </a:t>
            </a:r>
            <a:r>
              <a:rPr sz="1000" b="1">
                <a:solidFill>
                  <a:srgbClr val="0F172A"/>
                </a:solidFill>
                <a:latin typeface="Calibri"/>
              </a:rPr>
              <a:t>Signals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event triggers on insert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57200" y="3566159"/>
            <a:ext cx="2572511" cy="60350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EA5E9"/>
                </a:solidFill>
                <a:latin typeface="Calibri"/>
              </a:rPr>
              <a:t>⚡ </a:t>
            </a:r>
            <a:r>
              <a:rPr sz="1000" b="1">
                <a:solidFill>
                  <a:srgbClr val="0F172A"/>
                </a:solidFill>
                <a:latin typeface="Calibri"/>
              </a:rPr>
              <a:t>Cron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daily 2 AM retrain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285743" y="3566159"/>
            <a:ext cx="2572511" cy="60350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⚡ </a:t>
            </a:r>
            <a:r>
              <a:rPr sz="1000" b="1">
                <a:solidFill>
                  <a:srgbClr val="0F172A"/>
                </a:solidFill>
                <a:latin typeface="Calibri"/>
              </a:rPr>
              <a:t>Mail &amp; Push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instant alerts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114287" y="3566159"/>
            <a:ext cx="2572511" cy="60350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⚡ </a:t>
            </a:r>
            <a:r>
              <a:rPr sz="1000" b="1">
                <a:solidFill>
                  <a:srgbClr val="0F172A"/>
                </a:solidFill>
                <a:latin typeface="Calibri"/>
              </a:rPr>
              <a:t>Pipelines</a:t>
            </a:r>
          </a:p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475569"/>
                </a:solidFill>
                <a:latin typeface="Calibri"/>
              </a:rPr>
              <a:t>standardized CI/CD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Catalyst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Rectangle 107"/>
          <p:cNvSpPr/>
          <p:nvPr/>
        </p:nvSpPr>
        <p:spPr>
          <a:xfrm>
            <a:off x="457200" y="530352"/>
            <a:ext cx="548640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BBF24"/>
                </a:solidFill>
                <a:latin typeface="Calibri Light"/>
              </a:rPr>
              <a:t>₹12,500 / MONTH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Calibri"/>
              </a:rPr>
              <a:t>State-wide intelligence for less than </a:t>
            </a:r>
            <a:r>
              <a:rPr sz="1800" b="1">
                <a:solidFill>
                  <a:srgbClr val="0F172A"/>
                </a:solidFill>
                <a:latin typeface="Calibri"/>
              </a:rPr>
              <a:t>one constable's salary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1645920"/>
            <a:ext cx="2743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~₹1.5 L / year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Calibri"/>
              </a:rPr>
              <a:t>Serverless pay-per-use — no servers, no DB licences, no idle spend.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74720" y="164592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Calibri"/>
              </a:rPr>
              <a:t>Functions · 2M invocations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83679" y="164592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Calibri"/>
              </a:rPr>
              <a:t>₹3,500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474720" y="1865376"/>
            <a:ext cx="4206240" cy="548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474720" y="1938528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Calibri"/>
              </a:rPr>
              <a:t>Data Store + Cache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583679" y="1938528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Calibri"/>
              </a:rPr>
              <a:t>₹2,500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474720" y="2157984"/>
            <a:ext cx="4206240" cy="548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474720" y="223113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Calibri"/>
              </a:rPr>
              <a:t>QuickML + Zia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583679" y="223113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Calibri"/>
              </a:rPr>
              <a:t>₹4,000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474720" y="2450591"/>
            <a:ext cx="4206240" cy="548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474720" y="2523744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Calibri"/>
              </a:rPr>
              <a:t>SmartBrowz · Mail · Push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83679" y="2523744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Calibri"/>
              </a:rPr>
              <a:t>₹1,500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74720" y="2743200"/>
            <a:ext cx="4206240" cy="548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474720" y="2816352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Calibri"/>
              </a:rPr>
              <a:t>Hosting · Pipelines · Cron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583679" y="281635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Calibri"/>
              </a:rPr>
              <a:t>₹1,000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474720" y="3035808"/>
            <a:ext cx="4206240" cy="548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Calibri"/>
              </a:rPr>
              <a:t>Why it stays cheap:  </a:t>
            </a:r>
            <a:r>
              <a:rPr sz="1050" b="0">
                <a:solidFill>
                  <a:srgbClr val="475569"/>
                </a:solidFill>
                <a:latin typeface="Calibri"/>
              </a:rPr>
              <a:t>nightly batch ML avoids real-time GPU; caching cuts compute ~90%; scales to 31 districts with no re-architecture.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Cost (optional)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Rectangle 113"/>
          <p:cNvSpPr/>
          <p:nvPr/>
        </p:nvSpPr>
        <p:spPr>
          <a:xfrm>
            <a:off x="457200" y="530352"/>
            <a:ext cx="548640" cy="36576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0F172A"/>
                </a:solidFill>
                <a:latin typeface="Calibri Light"/>
              </a:rPr>
              <a:t>LIVE PROTOTYPE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Every module deployed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57200" y="1536192"/>
            <a:ext cx="2572511" cy="102412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</a:rPr>
              <a:t>[ screenshot 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2606039"/>
            <a:ext cx="2572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EA5E9"/>
                </a:solidFill>
                <a:latin typeface="Calibri"/>
              </a:rPr>
              <a:t>Hotspot Map &amp; Drill-Down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285743" y="1536192"/>
            <a:ext cx="2572511" cy="102412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</a:rPr>
              <a:t>[ screenshot ]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285743" y="2606039"/>
            <a:ext cx="2572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A78BFA"/>
                </a:solidFill>
                <a:latin typeface="Calibri"/>
              </a:rPr>
              <a:t>Criminal Network Graph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114287" y="1536192"/>
            <a:ext cx="2572511" cy="102412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</a:rPr>
              <a:t>[ screenshot ]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14287" y="2606039"/>
            <a:ext cx="2572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BBF24"/>
                </a:solidFill>
                <a:latin typeface="Calibri"/>
              </a:rPr>
              <a:t>Trend Forecasts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57200" y="2999232"/>
            <a:ext cx="2572511" cy="102412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</a:rPr>
              <a:t>[ screenshot ]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57200" y="4069080"/>
            <a:ext cx="2572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87171"/>
                </a:solidFill>
                <a:latin typeface="Calibri"/>
              </a:rPr>
              <a:t>Alert Center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85743" y="2999232"/>
            <a:ext cx="2572511" cy="102412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</a:rPr>
              <a:t>[ screenshot ]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285743" y="4069080"/>
            <a:ext cx="2572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4D399"/>
                </a:solidFill>
                <a:latin typeface="Calibri"/>
              </a:rPr>
              <a:t>Socio-Economic Overlay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114287" y="2999232"/>
            <a:ext cx="2572511" cy="102412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Calibri"/>
              </a:rPr>
              <a:t>[ screenshot ]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114287" y="4069080"/>
            <a:ext cx="2572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472B6"/>
                </a:solidFill>
                <a:latin typeface="Calibri"/>
              </a:rPr>
              <a:t>Risk Profiling + CopBot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Snapshots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Rectangle 119"/>
          <p:cNvSpPr/>
          <p:nvPr/>
        </p:nvSpPr>
        <p:spPr>
          <a:xfrm>
            <a:off x="457200" y="530352"/>
            <a:ext cx="548640" cy="3657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F172A"/>
                </a:solidFill>
                <a:latin typeface="Calibri Light"/>
              </a:rPr>
              <a:t>MEASURED, NOT PROMISED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7200" y="1536192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 i="0">
                <a:solidFill>
                  <a:srgbClr val="FBBF24"/>
                </a:solidFill>
                <a:latin typeface="Calibri Light"/>
              </a:rPr>
              <a:t>0.87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Calibri"/>
              </a:rPr>
              <a:t>F1 — hotspot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514600" y="1536192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 i="0">
                <a:solidFill>
                  <a:srgbClr val="0EA5E9"/>
                </a:solidFill>
                <a:latin typeface="Calibri Light"/>
              </a:rPr>
              <a:t>0.91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Calibri"/>
              </a:rPr>
              <a:t>AUC / accuracy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72000" y="1536192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 i="0">
                <a:solidFill>
                  <a:srgbClr val="34D399"/>
                </a:solidFill>
                <a:latin typeface="Calibri Light"/>
              </a:rPr>
              <a:t>&lt;200 ms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Calibri"/>
              </a:rPr>
              <a:t>API latency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629400" y="1536192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 i="0">
                <a:solidFill>
                  <a:srgbClr val="A78BFA"/>
                </a:solidFill>
                <a:latin typeface="Calibri Light"/>
              </a:rPr>
              <a:t>50k+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Calibri"/>
              </a:rPr>
              <a:t>cases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57200" y="2468880"/>
            <a:ext cx="8229600" cy="73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57200" y="2633472"/>
            <a:ext cx="3794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MODEL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Hotspot — XGBoost   </a:t>
            </a:r>
            <a:r>
              <a:rPr sz="900" b="0">
                <a:solidFill>
                  <a:srgbClr val="475569"/>
                </a:solidFill>
                <a:latin typeface="Calibri"/>
              </a:rPr>
              <a:t>F1 0.87 · AUC 0.91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Case outcome — RF   </a:t>
            </a:r>
            <a:r>
              <a:rPr sz="900" b="0">
                <a:solidFill>
                  <a:srgbClr val="475569"/>
                </a:solidFill>
                <a:latin typeface="Calibri"/>
              </a:rPr>
              <a:t>accuracy 0.91 · precision 0.85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District risk   </a:t>
            </a:r>
            <a:r>
              <a:rPr sz="900" b="0">
                <a:solidFill>
                  <a:srgbClr val="475569"/>
                </a:solidFill>
                <a:latin typeface="Calibri"/>
              </a:rPr>
              <a:t>RMSE/MAE per run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Anomaly — IsoForest   </a:t>
            </a:r>
            <a:r>
              <a:rPr sz="900" b="0">
                <a:solidFill>
                  <a:srgbClr val="475569"/>
                </a:solidFill>
                <a:latin typeface="Calibri"/>
              </a:rPr>
              <a:t>~2% flag rate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572000" y="2633472"/>
            <a:ext cx="3794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SYSTEM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Nightly pipeline   </a:t>
            </a:r>
            <a:r>
              <a:rPr sz="900" b="0">
                <a:solidFill>
                  <a:srgbClr val="475569"/>
                </a:solidFill>
                <a:latin typeface="Calibri"/>
              </a:rPr>
              <a:t>5 models via Cron + Circuits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Test coverage   </a:t>
            </a:r>
            <a:r>
              <a:rPr sz="900" b="0">
                <a:solidFill>
                  <a:srgbClr val="475569"/>
                </a:solidFill>
                <a:latin typeface="Calibri"/>
              </a:rPr>
              <a:t>13 UI + API + ML — all green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Accessibility   </a:t>
            </a:r>
            <a:r>
              <a:rPr sz="900" b="0">
                <a:solidFill>
                  <a:srgbClr val="475569"/>
                </a:solidFill>
                <a:latin typeface="Calibri"/>
              </a:rPr>
              <a:t>WCAG 2.1 AAA + keyboard nav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Security   </a:t>
            </a:r>
            <a:r>
              <a:rPr sz="900" b="0">
                <a:solidFill>
                  <a:srgbClr val="475569"/>
                </a:solidFill>
                <a:latin typeface="Calibri"/>
              </a:rPr>
              <a:t>RBAC · scoped · audit logs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Performance/Benchmarking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Rectangle 125"/>
          <p:cNvSpPr/>
          <p:nvPr/>
        </p:nvSpPr>
        <p:spPr>
          <a:xfrm>
            <a:off x="457200" y="530352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F172A"/>
                </a:solidFill>
                <a:latin typeface="Calibri Light"/>
              </a:rPr>
              <a:t>TRY IT YOURSELF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GITHUB REPOSITORY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78BFA"/>
                </a:solidFill>
                <a:latin typeface="Calibri"/>
              </a:rPr>
              <a:t>github.com/Team-Infinite-Parallax/Crime-Intelligence-Agent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7200" y="2139696"/>
            <a:ext cx="8229600" cy="731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57200" y="2313432"/>
            <a:ext cx="8229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DEMO VIDEO · 3 MIN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BBF24"/>
                </a:solidFill>
                <a:latin typeface="Calibri"/>
              </a:rPr>
              <a:t>&lt;demo video link&gt;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57200" y="2825496"/>
            <a:ext cx="8229600" cy="7315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57200" y="2999232"/>
            <a:ext cx="8229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4748B"/>
                </a:solidFill>
                <a:latin typeface="Calibri"/>
              </a:rPr>
              <a:t>DEPLOYED PROTOTYPE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D3EE"/>
                </a:solidFill>
                <a:latin typeface="Calibri"/>
              </a:rPr>
              <a:t>&lt;Catalyst hosted app link&gt;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57200" y="3511296"/>
            <a:ext cx="8229600" cy="7315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Demo login — SCRB Admin:  </a:t>
            </a:r>
            <a:r>
              <a:rPr sz="1050" b="1">
                <a:solidFill>
                  <a:srgbClr val="FBBF24"/>
                </a:solidFill>
                <a:latin typeface="Calibri"/>
              </a:rPr>
              <a:t>KSP-SCRB-100 / Ansh@123</a:t>
            </a:r>
            <a:r>
              <a:rPr sz="1050" b="0">
                <a:solidFill>
                  <a:srgbClr val="64748B"/>
                </a:solidFill>
                <a:latin typeface="Calibri"/>
              </a:rPr>
              <a:t>     District &amp; Station roles in README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Links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Rectangle 131"/>
          <p:cNvSpPr/>
          <p:nvPr/>
        </p:nvSpPr>
        <p:spPr>
          <a:xfrm>
            <a:off x="457200" y="530352"/>
            <a:ext cx="548640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0F172A"/>
                </a:solidFill>
                <a:latin typeface="Calibri Light"/>
              </a:rPr>
              <a:t>WHAT'S NEXT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The roadmap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57200" y="1627632"/>
            <a:ext cx="3886200" cy="76809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01</a:t>
            </a:r>
            <a:r>
              <a:rPr sz="1100" b="1">
                <a:solidFill>
                  <a:srgbClr val="0F172A"/>
                </a:solidFill>
                <a:latin typeface="Calibri"/>
              </a:rPr>
              <a:t>   CCTV Integration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Calibri"/>
              </a:rPr>
              <a:t>real-time facial recognition &amp; vehicle-plate tracking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800600" y="1627632"/>
            <a:ext cx="3886200" cy="76809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02</a:t>
            </a:r>
            <a:r>
              <a:rPr sz="1100" b="1">
                <a:solidFill>
                  <a:srgbClr val="0F172A"/>
                </a:solidFill>
                <a:latin typeface="Calibri"/>
              </a:rPr>
              <a:t>   LLMs on FIR Narratives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Calibri"/>
              </a:rPr>
              <a:t>automated MO extraction &amp; suspect-description parsing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57200" y="2468880"/>
            <a:ext cx="3886200" cy="76809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A78BFA"/>
                </a:solidFill>
                <a:latin typeface="Calibri"/>
              </a:rPr>
              <a:t>03</a:t>
            </a:r>
            <a:r>
              <a:rPr sz="1100" b="1">
                <a:solidFill>
                  <a:srgbClr val="0F172A"/>
                </a:solidFill>
                <a:latin typeface="Calibri"/>
              </a:rPr>
              <a:t>   Social Sentiment Radar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Calibri"/>
              </a:rPr>
              <a:t>public sentiment as a leading indicator of unrest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800600" y="2468880"/>
            <a:ext cx="3886200" cy="76809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04</a:t>
            </a:r>
            <a:r>
              <a:rPr sz="1100" b="1">
                <a:solidFill>
                  <a:srgbClr val="0F172A"/>
                </a:solidFill>
                <a:latin typeface="Calibri"/>
              </a:rPr>
              <a:t>   Inter-State Federation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Calibri"/>
              </a:rPr>
              <a:t>NCRB / CCTNS schema alignment for cross-state tracking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57200" y="3310128"/>
            <a:ext cx="3886200" cy="76809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22D3EE"/>
                </a:solidFill>
                <a:latin typeface="Calibri"/>
              </a:rPr>
              <a:t>05</a:t>
            </a:r>
            <a:r>
              <a:rPr sz="1100" b="1">
                <a:solidFill>
                  <a:srgbClr val="0F172A"/>
                </a:solidFill>
                <a:latin typeface="Calibri"/>
              </a:rPr>
              <a:t>   Field Officer Mobile App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Calibri"/>
              </a:rPr>
              <a:t>offline-first FIR entry &amp; push hotspot briefings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800600" y="3310128"/>
            <a:ext cx="3886200" cy="76809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1F5F9"/>
              </a:gs>
              <a:gs pos="100000">
                <a:srgbClr val="F8FAFC"/>
              </a:gs>
            </a:gsLst>
            <a:lin scaled="0" ang="16200000"/>
          </a:gra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F472B6"/>
                </a:solidFill>
                <a:latin typeface="Calibri"/>
              </a:rPr>
              <a:t>06</a:t>
            </a:r>
            <a:r>
              <a:rPr sz="1100" b="1">
                <a:solidFill>
                  <a:srgbClr val="0F172A"/>
                </a:solidFill>
                <a:latin typeface="Calibri"/>
              </a:rPr>
              <a:t>   Graph Knowledge Base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Calibri"/>
              </a:rPr>
              <a:t>persistent queryable knowledge graph over corpus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Future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TextBox 137"/>
          <p:cNvSpPr txBox="1"/>
          <p:nvPr/>
        </p:nvSpPr>
        <p:spPr>
          <a:xfrm>
            <a:off x="457200" y="1645920"/>
            <a:ext cx="822960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050" b="1" i="0">
                <a:solidFill>
                  <a:srgbClr val="FBBF24"/>
                </a:solidFill>
                <a:latin typeface="Calibri"/>
              </a:rPr>
              <a:t>TEAM INFINITE PARALLAX</a:t>
            </a:r>
          </a:p>
          <a:p>
            <a:pPr algn="ctr">
              <a:spcAft>
                <a:spcPts val="800"/>
              </a:spcAft>
            </a:pPr>
            <a:r>
              <a:rPr sz="4000" b="0" i="0">
                <a:solidFill>
                  <a:srgbClr val="0F172A"/>
                </a:solidFill>
                <a:latin typeface="Calibri Light"/>
              </a:rPr>
              <a:t>Thank you</a:t>
            </a:r>
          </a:p>
          <a:p>
            <a:pPr algn="ctr">
              <a:spcAft>
                <a:spcPts val="0"/>
              </a:spcAft>
            </a:pPr>
            <a:r>
              <a:rPr sz="1150" b="0" i="1">
                <a:solidFill>
                  <a:srgbClr val="475569"/>
                </a:solidFill>
                <a:latin typeface="Calibri"/>
              </a:rPr>
              <a:t>Empowering the Karnataka State Police with Zoho Catalyst &amp; data-driven intelligence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Blank slide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4748B"/>
                </a:solidFill>
                <a:latin typeface="Calibri"/>
              </a:rPr>
              <a:t>TEMPLATE SECTION: [decorative/blank]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